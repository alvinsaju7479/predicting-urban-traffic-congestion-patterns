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9" r:id="rId5"/>
    <p:sldId id="273" r:id="rId6"/>
    <p:sldId id="258" r:id="rId7"/>
    <p:sldId id="274" r:id="rId8"/>
    <p:sldId id="261" r:id="rId9"/>
    <p:sldId id="262" r:id="rId10"/>
    <p:sldId id="263" r:id="rId11"/>
    <p:sldId id="270" r:id="rId12"/>
    <p:sldId id="264" r:id="rId13"/>
    <p:sldId id="265" r:id="rId14"/>
    <p:sldId id="267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5C19-079E-E30E-2AEC-304131748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B4163-E196-915D-7481-2B615F786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11196-0590-3E60-A7AB-50CCED8E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72DD5-0407-860E-2993-135E3CA5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33D93-BE92-43E7-8402-D387BC2B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6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7BFA2-A7B9-E6BE-19C8-9BBDF523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20B92-AAE9-4E58-54BE-AE7050D4F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BA744-7527-423E-6CBF-44BD8990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46A9C-B844-7AFC-A6F0-E455B0ED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3EABA-92AB-4CDD-C47C-1D90ED61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6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9B858-B8A6-2A2D-3576-D705E6CE7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D475-EC4E-DDEF-D599-E3E4A6026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C3365-BEBD-167A-DD37-14EDF860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7C5A3-4318-2A91-593F-60C5F15C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17271-2DC2-CC65-FDD3-A238C00D9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05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6C9B-7058-3B2C-2AA4-83A396CE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7C88C-1C0C-C46A-B67B-079959CC5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39F4B-CDEC-0DC4-4A1D-423C1C7BF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DC3C8-EA66-9F17-00B9-0E712222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2A25A-3AD8-DE88-5932-ED19A66E3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E0BD9-B38D-CE07-9E7F-AD3A689EE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0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20D6-0D51-AC65-2982-B3030CFE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8CA97-6D48-7197-5707-AF8C8512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F4B1C-C258-38A3-33F0-AD213F8A9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7350D-918A-8783-269A-4CF1C4712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54809E-7119-A615-01E3-47D40E2FB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61917-8563-0EE0-031B-0D1B3F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9CF47-BE45-B7B5-6D93-BE96C2B3F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CB2F7-A682-6DD9-80AC-AA57AC2B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8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9D9E-E5B0-7FFD-DB37-9CD54CED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F06D3A-50C4-8331-1B62-B88F990D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4A14C-0646-2A09-5743-9F180392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BE449-A12A-7E77-0F7B-12FD9DC7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93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2B28C-98EA-0528-88E3-DE626268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9D9E6-89CB-0421-71F0-3A71A491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F45B2-22C9-F4A5-5828-14A8626B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70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B37D-5F63-733D-EAD9-6B52688F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A698-1B5F-33DE-80D1-53170DEE0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BE584-F792-5177-A17D-61C3C68C8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61719-3BC7-5189-8FB5-920A751DA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881C3-7FE8-A70E-98DE-2AC27425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2B7C9-F8A3-1B50-AACB-E446F5DC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0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6B36-A5B5-2280-80CD-6A5951073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50EE4-4DEF-2236-A081-002A1503C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DE89B-3D0A-B3B2-31BF-FB47FE885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59EA0-7409-D5B2-A023-6B1E8C1E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8AFC4-B5F8-529B-53F4-6186F5B6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43DC5-95B5-3A80-AC49-7DC7CBFF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89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59F-1C4D-ACA9-7425-B385C721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95B9F-6F0E-477E-FE43-B2BA88137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6A03-D33F-5B58-D831-8289A948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02DBF-AD41-9DAD-7C62-261FAA3D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94109-6F22-C7F7-27B7-FEFCB1E80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5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0A513-0703-A2EE-1299-DBA7EA066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81341-FC0F-2FC6-3D85-052067BE2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80D9C-519C-8BC6-EEEC-5AD0FAC4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5BFE4-5188-884A-88FD-0C4D4B97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B74E1-8667-824B-F070-B1BA19C2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1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3275F-9EC0-E4BA-D4CC-78627189A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3432-D737-09E3-B9AB-0B513B564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3B549-45EC-E0AB-B91B-8F68C83160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4A263-F379-40E5-B650-840C9C4A8ED3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9CD17-9E2B-C976-2DCD-3EB9ABBE2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AC4FC-0D87-8C41-FE9C-AA6D3A252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DB31F-1924-40FF-9C90-61F6AA1F5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1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.pn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90/s25134126" TargetMode="External" /><Relationship Id="rId3" Type="http://schemas.openxmlformats.org/officeDocument/2006/relationships/hyperlink" Target="https://doi.org/10.3390/su15075949" TargetMode="External" /><Relationship Id="rId7" Type="http://schemas.openxmlformats.org/officeDocument/2006/relationships/hyperlink" Target="https://doi.org/10.3390/su15139859" TargetMode="External" /><Relationship Id="rId2" Type="http://schemas.openxmlformats.org/officeDocument/2006/relationships/hyperlink" Target="https://doi.org/10.3390/infrastructures10070155" TargetMode="Externa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doi.org/10.3390/su151310464" TargetMode="External" /><Relationship Id="rId5" Type="http://schemas.openxmlformats.org/officeDocument/2006/relationships/hyperlink" Target="https://doi.org/10.3390/info14050268" TargetMode="External" /><Relationship Id="rId10" Type="http://schemas.openxmlformats.org/officeDocument/2006/relationships/hyperlink" Target="https://doi.org/10.3390/a18020074" TargetMode="External" /><Relationship Id="rId4" Type="http://schemas.openxmlformats.org/officeDocument/2006/relationships/hyperlink" Target="https://doi.org/10.3390/s23010357" TargetMode="External" /><Relationship Id="rId9" Type="http://schemas.openxmlformats.org/officeDocument/2006/relationships/hyperlink" Target="https://data.smartdublin.ie/dataset/dcc-scats-detector-volume-jan-jun-2024" TargetMode="Externa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1400-6706-E24F-B912-E2299848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2594" y="1860908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Urban Traffic Congestion Patterns Using Distributed Analytics of Smart City Sensor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C6FBD-22B9-804C-9B06-436C402BC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1084" y="4248508"/>
            <a:ext cx="8809703" cy="1655762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Alvin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6145D2-E058-F359-7A8E-AC3BDE2B3953}"/>
              </a:ext>
            </a:extLst>
          </p:cNvPr>
          <p:cNvCxnSpPr/>
          <p:nvPr/>
        </p:nvCxnSpPr>
        <p:spPr>
          <a:xfrm>
            <a:off x="2192594" y="2300746"/>
            <a:ext cx="0" cy="23105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26DF1A24-E82A-1446-ACB3-6F1CB4DC5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04" y="205145"/>
            <a:ext cx="2318618" cy="103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1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1725-3210-5567-5AD2-2DE49AC8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859B5-E802-92AF-C09B-8D3EC0D45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07690"/>
            <a:ext cx="10439400" cy="527009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traffic congestion is worsening due to rapid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urbanisation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rising vehicle density (Lu et al., 2023)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use IoT sensors, cameras and connected devices for real-time traffic monitoring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Mutambik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reactive they detect congestion after it occurs rather than predicting it (Musa et al., 2023)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generated by SCATS sensors exceeds the capacity of traditional sequential processing tools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analytics and predictive modelling are essential for proactive smart city traffic management</a:t>
            </a:r>
          </a:p>
        </p:txBody>
      </p:sp>
    </p:spTree>
    <p:extLst>
      <p:ext uri="{BB962C8B-B14F-4D97-AF65-F5344CB8AC3E}">
        <p14:creationId xmlns:p14="http://schemas.microsoft.com/office/powerpoint/2010/main" val="44528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18AF3-48CD-97B8-AC0E-C6F1FDC1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B2E3-C307-A9B8-9978-EAC463A3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68AD-6733-FC1A-F902-942AE49A4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307690"/>
            <a:ext cx="11159613" cy="5270091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sensor networks enable real-time traffic data collection across urban intersections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outperforms Hadoop for iterative ML workloads and real-time streaming (Theodorakopoulos et al., 2025)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handles non-linear traffic relationships and high-dimensional sensor data effectively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outperforms LSTM for traffic prediction with fewer parameters and lower computational cost (Abdullah et al., 2023)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works lack integration of scalable distributed processing with predictive congestion modelling</a:t>
            </a:r>
          </a:p>
        </p:txBody>
      </p:sp>
    </p:spTree>
    <p:extLst>
      <p:ext uri="{BB962C8B-B14F-4D97-AF65-F5344CB8AC3E}">
        <p14:creationId xmlns:p14="http://schemas.microsoft.com/office/powerpoint/2010/main" val="211102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F28E1-0116-55A1-EA42-13D4520BC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40D0-7DC3-C1C9-3E94-10CBDB02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4AEF82-C423-A565-0668-BE9452E87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7531"/>
              </p:ext>
            </p:extLst>
          </p:nvPr>
        </p:nvGraphicFramePr>
        <p:xfrm>
          <a:off x="491612" y="1159533"/>
          <a:ext cx="11208776" cy="541824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02194">
                  <a:extLst>
                    <a:ext uri="{9D8B030D-6E8A-4147-A177-3AD203B41FA5}">
                      <a16:colId xmlns:a16="http://schemas.microsoft.com/office/drawing/2014/main" val="3314413135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38346946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718768581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1826573206"/>
                    </a:ext>
                  </a:extLst>
                </a:gridCol>
              </a:tblGrid>
              <a:tr h="526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637097"/>
                  </a:ext>
                </a:extLst>
              </a:tr>
              <a:tr h="9862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Musa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capture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large-scale predictive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8178024"/>
                  </a:ext>
                </a:extLst>
              </a:tr>
              <a:tr h="9862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Abduljabbar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traffic flow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Multi-source data, accurate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distributed big data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86299"/>
                  </a:ext>
                </a:extLst>
              </a:tr>
              <a:tr h="947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Theodorakopoulos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Apache Spark </a:t>
                      </a:r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MLlib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ML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applied to urban traffic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10179"/>
                  </a:ext>
                </a:extLst>
              </a:tr>
              <a:tr h="9862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Abdullah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 GRU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time-dependent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demand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807182"/>
                  </a:ext>
                </a:extLst>
              </a:tr>
              <a:tr h="9862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Chahal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ARIMA + LSTM hybrid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forecasting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distributed big data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829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04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BE6F-628D-949C-E7F7-046165C2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87B7-73A8-5EF2-8583-717A0C04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2E3C5-7FE3-52EC-5618-4C95C8717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307690"/>
            <a:ext cx="11159613" cy="527009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traffic systems depend on reactive monitoring without advanced predictive capabilities (Musa et al., 2023)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ML models improve accuracy but lack scalable distributed processing integration (Abduljabbar et al., 2025)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exists for large-scale analytics but has seen limited use in traffic prediction (Theodorakopoulos et al., 2025)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unified framework integrates IoT sensor data, distributed processing, and real-time prediction together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scalable end-to-end framework combining Kafka streaming, Spark processing, and hybrid ML/DL prediction is missing</a:t>
            </a:r>
          </a:p>
        </p:txBody>
      </p:sp>
    </p:spTree>
    <p:extLst>
      <p:ext uri="{BB962C8B-B14F-4D97-AF65-F5344CB8AC3E}">
        <p14:creationId xmlns:p14="http://schemas.microsoft.com/office/powerpoint/2010/main" val="250447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B7DD-621F-C1CB-C6A7-4377E8B5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A9304-AE1D-4FA8-8114-A9FFCC0E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564A1-B152-933D-DAE8-C9921B145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5" y="1307690"/>
            <a:ext cx="11228439" cy="5270091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Aim: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scalable big data-driven framework integrating distributed analytics and predictive modelling for urban traffic congestion forecasting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algn="just"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 Apache Spark framework for distributed processing of SCATS traffic data</a:t>
            </a:r>
          </a:p>
          <a:p>
            <a:pPr algn="just"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Random Forest and GRU models for hybrid ML and DL traffic congestion prediction</a:t>
            </a:r>
          </a:p>
          <a:p>
            <a:pPr algn="just"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live Tableau dashboard and evaluate system scalability, accuracy, and real-time capability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SCATS August 2025 — 10.78 million records from Dublin City Council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signalised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intersections</a:t>
            </a:r>
          </a:p>
        </p:txBody>
      </p:sp>
    </p:spTree>
    <p:extLst>
      <p:ext uri="{BB962C8B-B14F-4D97-AF65-F5344CB8AC3E}">
        <p14:creationId xmlns:p14="http://schemas.microsoft.com/office/powerpoint/2010/main" val="250076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2E9A8-D896-05D4-758F-28B89B53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EEEC-3A1D-FA11-0862-6AB5D677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5BDE-2966-9CC4-B163-56D96F1BA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7" y="1307690"/>
            <a:ext cx="6459793" cy="5270091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Four-layer distributed architecture: Data Ingestion → Preprocessing → Predictive Modelling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 producer streams SCATS records row by row to the Kafka topic in real time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Structured Streaming consumer applies preprocessing and RF model inference on each micro-batch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outputs written automatically to Google Sheets, live-connected to Tableau dashboard</a:t>
            </a:r>
          </a:p>
          <a:p>
            <a:pPr algn="just">
              <a:lnSpc>
                <a:spcPct val="17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MinMaxScaler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Label Encoding applied; features: Region, Site, Detector, Hour, Day,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Peak_Hour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Avg_Volume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E0D5B-19C7-671B-A550-D3D084C508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251" y="1945971"/>
            <a:ext cx="4842039" cy="2966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CCAEFC-2BB0-493C-4652-D2D291D975F5}"/>
              </a:ext>
            </a:extLst>
          </p:cNvPr>
          <p:cNvSpPr txBox="1"/>
          <p:nvPr/>
        </p:nvSpPr>
        <p:spPr>
          <a:xfrm>
            <a:off x="8099844" y="5124755"/>
            <a:ext cx="28808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Scalable Distributed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895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2513-0283-7E23-F677-DB1D88751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0A94-706A-BFC6-71A4-E0709E1C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832" y="414287"/>
            <a:ext cx="6545826" cy="73608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609C0-A14A-2046-9988-C0B4535C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7" y="1307690"/>
            <a:ext cx="7747818" cy="527009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NCITY region records highest average traffic volume (~53 vehicles); DCC2 records lowest (~21)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daily bimodal pattern: trough at 4–5am (~9 vehicles), afternoon peak 1pm–6pm (~65 vehicles)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 and Thursday show highest day-wise volumes (~44–45 vehicles); Sunday lowest (~36)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6073 is the most congested intersection with ~655 average vehicles 27% higher than Site 961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between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Sum_Volume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Avg_Volume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 = 0.99); Detector negatively correlated (r = –0.38)</a:t>
            </a:r>
          </a:p>
        </p:txBody>
      </p:sp>
      <p:pic>
        <p:nvPicPr>
          <p:cNvPr id="7" name="Picture 6" descr="No description has been provided for this image">
            <a:extLst>
              <a:ext uri="{FF2B5EF4-FFF2-40B4-BE49-F238E27FC236}">
                <a16:creationId xmlns:a16="http://schemas.microsoft.com/office/drawing/2014/main" id="{DFA3C30A-9A67-F43F-6CD1-BC5D275B2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0916" y="302340"/>
            <a:ext cx="3445743" cy="1921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No description has been provided for this image">
            <a:extLst>
              <a:ext uri="{FF2B5EF4-FFF2-40B4-BE49-F238E27FC236}">
                <a16:creationId xmlns:a16="http://schemas.microsoft.com/office/drawing/2014/main" id="{AE2C0ABA-F467-F47E-6DF4-AE1A5281F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318" y="2278515"/>
            <a:ext cx="3354379" cy="2294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No description has been provided for this image">
            <a:extLst>
              <a:ext uri="{FF2B5EF4-FFF2-40B4-BE49-F238E27FC236}">
                <a16:creationId xmlns:a16="http://schemas.microsoft.com/office/drawing/2014/main" id="{5A0F1607-51BA-2D88-3B1B-D16026998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156" y="4579485"/>
            <a:ext cx="3454705" cy="1998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3835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BD111-4A76-179F-0F87-5C5FB922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CCBD-8570-089D-2DA8-D836F0C9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26" y="427704"/>
            <a:ext cx="10724535" cy="73608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Implementation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2222-21E4-7DAE-E623-D68B6F9E4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62" y="1409597"/>
            <a:ext cx="6865377" cy="5276338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RandomForestRegressor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 estimators, max depth 15, 80/20 train-test split</a:t>
            </a: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used: Region, Site, Detector, Hour, Day,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Peak_Hour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Avg_Volume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target: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Sum_Volume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classified as Low / Medium / High using 60th and 90th percentile thresholds</a:t>
            </a: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R² = 0.9949, MAE = 1.52, RMSE = 7.32 — prediction within 1–2 vehicles per 15-min interval</a:t>
            </a: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saved as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scaler.pkl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label_encoder.pkl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reuse in the streaming pipeline</a:t>
            </a:r>
          </a:p>
        </p:txBody>
      </p:sp>
      <p:pic>
        <p:nvPicPr>
          <p:cNvPr id="6" name="Picture 5" descr="No description has been provided for this image">
            <a:extLst>
              <a:ext uri="{FF2B5EF4-FFF2-40B4-BE49-F238E27FC236}">
                <a16:creationId xmlns:a16="http://schemas.microsoft.com/office/drawing/2014/main" id="{E1407B34-34DA-BE40-E5A1-75C14AEE1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665" y="2286487"/>
            <a:ext cx="4138058" cy="228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588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E2BF8-CFB3-E3B2-D5BF-DE877B76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5DD6-24E5-4DCA-68EE-DB0794B6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612" y="383661"/>
            <a:ext cx="7325033" cy="73608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GRU Model Implementation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F86B9-02CF-2CFB-3C86-D07605C9B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3" y="1214596"/>
            <a:ext cx="7779897" cy="546037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active site selected; data hourly resampled and scaled; 48-hour lookback window applied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stacked GRU layers (64 → 32 units) + two dense layers; 22,817 trainable parameters total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(patience = 5) applied over 40 epochs; both training and validation loss converged below 0.01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R² = 0.9472, MAE = 2.82, RMSE = 3.81 smoother forecasting with fewer extreme errors than RF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successfully captured recurring daily traffic wave cycles from 0 to ~65 vehicles</a:t>
            </a:r>
          </a:p>
        </p:txBody>
      </p:sp>
      <p:pic>
        <p:nvPicPr>
          <p:cNvPr id="10" name="Picture 9" descr="No description has been provided for this image">
            <a:extLst>
              <a:ext uri="{FF2B5EF4-FFF2-40B4-BE49-F238E27FC236}">
                <a16:creationId xmlns:a16="http://schemas.microsoft.com/office/drawing/2014/main" id="{5175A30A-FCF6-87DA-B52F-DFA4DED95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2181" y="141518"/>
            <a:ext cx="3507535" cy="195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No description has been provided for this image">
            <a:extLst>
              <a:ext uri="{FF2B5EF4-FFF2-40B4-BE49-F238E27FC236}">
                <a16:creationId xmlns:a16="http://schemas.microsoft.com/office/drawing/2014/main" id="{BECEDB31-D498-14BE-B7FE-7F6196D1F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265" y="2097980"/>
            <a:ext cx="3578942" cy="239997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A528FF1-9081-04F9-2146-69D1DC482A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639571"/>
              </p:ext>
            </p:extLst>
          </p:nvPr>
        </p:nvGraphicFramePr>
        <p:xfrm>
          <a:off x="8578645" y="4497951"/>
          <a:ext cx="3161071" cy="22369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78426">
                  <a:extLst>
                    <a:ext uri="{9D8B030D-6E8A-4147-A177-3AD203B41FA5}">
                      <a16:colId xmlns:a16="http://schemas.microsoft.com/office/drawing/2014/main" val="3098299139"/>
                    </a:ext>
                  </a:extLst>
                </a:gridCol>
                <a:gridCol w="648929">
                  <a:extLst>
                    <a:ext uri="{9D8B030D-6E8A-4147-A177-3AD203B41FA5}">
                      <a16:colId xmlns:a16="http://schemas.microsoft.com/office/drawing/2014/main" val="4288303767"/>
                    </a:ext>
                  </a:extLst>
                </a:gridCol>
                <a:gridCol w="993058">
                  <a:extLst>
                    <a:ext uri="{9D8B030D-6E8A-4147-A177-3AD203B41FA5}">
                      <a16:colId xmlns:a16="http://schemas.microsoft.com/office/drawing/2014/main" val="3945487717"/>
                    </a:ext>
                  </a:extLst>
                </a:gridCol>
                <a:gridCol w="840658">
                  <a:extLst>
                    <a:ext uri="{9D8B030D-6E8A-4147-A177-3AD203B41FA5}">
                      <a16:colId xmlns:a16="http://schemas.microsoft.com/office/drawing/2014/main" val="2305352781"/>
                    </a:ext>
                  </a:extLst>
                </a:gridCol>
              </a:tblGrid>
              <a:tr h="408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793188"/>
                  </a:ext>
                </a:extLst>
              </a:tr>
              <a:tr h="285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(48, 1)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813077"/>
                  </a:ext>
                </a:extLst>
              </a:tr>
              <a:tr h="285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(48, 64)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12,864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142073"/>
                  </a:ext>
                </a:extLst>
              </a:tr>
              <a:tr h="2278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9,408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3612860"/>
                  </a:ext>
                </a:extLst>
              </a:tr>
              <a:tr h="4081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 (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ReLU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151454"/>
                  </a:ext>
                </a:extLst>
              </a:tr>
              <a:tr h="285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674291"/>
                  </a:ext>
                </a:extLst>
              </a:tr>
              <a:tr h="285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22,817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6133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20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5E4FE-A722-3B3C-762D-DDBE8CC6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4694-DB69-87A6-96F3-56B72FCE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330" y="267086"/>
            <a:ext cx="6182032" cy="73608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357DD-608A-BBEE-C24C-40BCE2AE8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1046573"/>
            <a:ext cx="8654239" cy="544630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 producer streams SCATS records row by row with fields: Region, Site, Detector, Hour, Day,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Peak_Hour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Timestamp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Structured Streaming consumer loads saved RF model and scaler; applies inference on every incoming micro-batch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congestion level and actual values written to Google Sheets approximately every 5 seconds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live-connected to Tableau; dashboard auto-refreshes as new rows are inserted</a:t>
            </a:r>
          </a:p>
          <a:p>
            <a:pPr algn="just"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 confirmed successful end-to-end streaming on 14 May 2026 from 12:14 onwards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50F9-3F38-B6A8-78AD-D15B7595C8E5}"/>
              </a:ext>
            </a:extLst>
          </p:cNvPr>
          <p:cNvSpPr txBox="1"/>
          <p:nvPr/>
        </p:nvSpPr>
        <p:spPr>
          <a:xfrm>
            <a:off x="9285085" y="4246372"/>
            <a:ext cx="23480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Spark Consumer Terminal 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9BCF4-8113-50DA-148D-67546E7CA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89" y="267086"/>
            <a:ext cx="2732651" cy="1776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0E9A57-B3F4-99D9-6F30-496C421FBDB8}"/>
              </a:ext>
            </a:extLst>
          </p:cNvPr>
          <p:cNvSpPr txBox="1"/>
          <p:nvPr/>
        </p:nvSpPr>
        <p:spPr>
          <a:xfrm>
            <a:off x="9602126" y="2096530"/>
            <a:ext cx="18023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Terminal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818F7D-EECD-522D-F36C-E431724FB141}"/>
              </a:ext>
            </a:extLst>
          </p:cNvPr>
          <p:cNvSpPr txBox="1"/>
          <p:nvPr/>
        </p:nvSpPr>
        <p:spPr>
          <a:xfrm>
            <a:off x="8919710" y="6386392"/>
            <a:ext cx="3006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to Google Sheets Terminal Output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77F5F7-CF96-2E0A-E418-3BE7BF0AE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789" y="2426750"/>
            <a:ext cx="2732651" cy="1776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B54579-F1EB-4138-F00C-2B4360726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621" y="4566770"/>
            <a:ext cx="2732651" cy="177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2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4B0D-D334-CBCE-773B-62D69D63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113E-6C33-DC7E-D832-7D6896C5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52"/>
            <a:ext cx="10515600" cy="73608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Testing, Evaluation &amp;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35BC9-E5AD-DA0F-5F04-C0FD73C33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7" y="1101214"/>
            <a:ext cx="6833418" cy="5476567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model achieves R² = 0.9949 and MAE = 1.52; GRU achieves R² = 0.9472 and RMSE = 3.81 (smoother errors)</a:t>
            </a:r>
          </a:p>
          <a:p>
            <a:pPr algn="just"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processed 10.78 million records with continuous micro-batch streaming - no memory overflow or interruption</a:t>
            </a:r>
          </a:p>
          <a:p>
            <a:pPr algn="just"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 highest predicted congestion (83.13); South second (76.40); North lowest (22.02)Site 6073 confirmed as critical network hotspot with ~655 average vehicles - priority for signal optimization</a:t>
            </a:r>
          </a:p>
          <a:p>
            <a:pPr algn="just">
              <a:lnSpc>
                <a:spcPct val="17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displayed 6 live panels: KPI cards, congestion trend, regional comparison, corridor ranking, detector load, scatter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498D9-034D-0818-728D-B8EA58661E2F}"/>
              </a:ext>
            </a:extLst>
          </p:cNvPr>
          <p:cNvSpPr txBox="1"/>
          <p:nvPr/>
        </p:nvSpPr>
        <p:spPr>
          <a:xfrm>
            <a:off x="8150336" y="3892994"/>
            <a:ext cx="34296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Tableau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14585B-D348-0BA2-2A72-55085B002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895" y="1101214"/>
            <a:ext cx="4242814" cy="275736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51706E-0450-8CF5-6055-60158FE81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46725"/>
              </p:ext>
            </p:extLst>
          </p:nvPr>
        </p:nvGraphicFramePr>
        <p:xfrm>
          <a:off x="8017904" y="4491833"/>
          <a:ext cx="3694470" cy="1614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31490">
                  <a:extLst>
                    <a:ext uri="{9D8B030D-6E8A-4147-A177-3AD203B41FA5}">
                      <a16:colId xmlns:a16="http://schemas.microsoft.com/office/drawing/2014/main" val="1660071463"/>
                    </a:ext>
                  </a:extLst>
                </a:gridCol>
                <a:gridCol w="1231490">
                  <a:extLst>
                    <a:ext uri="{9D8B030D-6E8A-4147-A177-3AD203B41FA5}">
                      <a16:colId xmlns:a16="http://schemas.microsoft.com/office/drawing/2014/main" val="3371740255"/>
                    </a:ext>
                  </a:extLst>
                </a:gridCol>
                <a:gridCol w="1231490">
                  <a:extLst>
                    <a:ext uri="{9D8B030D-6E8A-4147-A177-3AD203B41FA5}">
                      <a16:colId xmlns:a16="http://schemas.microsoft.com/office/drawing/2014/main" val="3761499835"/>
                    </a:ext>
                  </a:extLst>
                </a:gridCol>
              </a:tblGrid>
              <a:tr h="403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9287411"/>
                  </a:ext>
                </a:extLst>
              </a:tr>
              <a:tr h="403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3108183"/>
                  </a:ext>
                </a:extLst>
              </a:tr>
              <a:tr h="403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7.32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731092"/>
                  </a:ext>
                </a:extLst>
              </a:tr>
              <a:tr h="4035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Score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0.9949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0.9472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847977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319360B-A3F7-579E-620A-CEDD8D83FF9F}"/>
              </a:ext>
            </a:extLst>
          </p:cNvPr>
          <p:cNvSpPr txBox="1"/>
          <p:nvPr/>
        </p:nvSpPr>
        <p:spPr>
          <a:xfrm>
            <a:off x="8898194" y="6150674"/>
            <a:ext cx="229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</a:t>
            </a:r>
          </a:p>
        </p:txBody>
      </p:sp>
    </p:spTree>
    <p:extLst>
      <p:ext uri="{BB962C8B-B14F-4D97-AF65-F5344CB8AC3E}">
        <p14:creationId xmlns:p14="http://schemas.microsoft.com/office/powerpoint/2010/main" val="2956259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4E8CC-81EC-840A-1580-E85A8C64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9E37-E598-90FE-1B2F-1BA77D6B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1011597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EE9D-8109-F2A2-AEE9-B6513F6D9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284" y="2192594"/>
            <a:ext cx="9443884" cy="452888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objectives met: Spark processed 10.78M records; RF (R²=0.9949) and GRU (R²=0.9472) validated; live Tableau dashboard deployed</a:t>
            </a:r>
          </a:p>
          <a:p>
            <a:pPr algn="just"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Kafka–Spark–Google Sheets–Tableau pipeline demonstrated successfully in live demo</a:t>
            </a:r>
          </a:p>
          <a:p>
            <a:pPr algn="just"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single-month Dublin dataset; tested on local hardware rather than cloud cluster</a:t>
            </a:r>
          </a:p>
          <a:p>
            <a:pPr algn="just"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deploy on AWS EMR / Google Cloud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Dataproc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multi-city scalability testing</a:t>
            </a:r>
          </a:p>
          <a:p>
            <a:pPr algn="just">
              <a:lnSpc>
                <a:spcPct val="12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integrate weather/incident data; replace GRU with Temporal Fusion Transformer; develop REST API layer for navigation app integration</a:t>
            </a:r>
          </a:p>
        </p:txBody>
      </p:sp>
    </p:spTree>
    <p:extLst>
      <p:ext uri="{BB962C8B-B14F-4D97-AF65-F5344CB8AC3E}">
        <p14:creationId xmlns:p14="http://schemas.microsoft.com/office/powerpoint/2010/main" val="1098319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4AF9-DE4E-4A9A-BAD9-DA1E70D1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3A17-B9AB-21FF-155D-CF75B89AD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EA0D-5248-F00B-287C-7C0D4354B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5" y="1307690"/>
            <a:ext cx="11100619" cy="5270091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Abduljabbar, R., Dia, H. and Liyanage, S. (2025)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"Machine Learning Traffic Flow Prediction Models for Smart and Sustainable Traffic Management,"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10(7).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https://doi.org/10.3390/infrastructures10070155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Abdullah, S.M. et al. (2023)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"Optimizing Traffic Flow in Smart Cities: Soft GRU-Based Recurrent Neural Networks for Enhanced Congestion Prediction Using Deep Learning,"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15(7).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https://doi.org/10.3390/su15075949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Alexakis, T. et al. (2022)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"A Distributed Big Data Analytics Architecture for Vehicle Sensor Data,"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23(1).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https://doi.org/10.3390/s23010357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Chahal, A. et al. (2023)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"A Hybrid Univariate Traffic Congestion Prediction Model for IoT-Enabled Smart City,"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14(5).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https://doi.org/10.3390/info14050268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Lu, H. et al. (2023)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"Study on Urban Expansion and Population Density Changes Based on the Inverse S-Shaped Function,"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15(13).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https://doi.org/10.3390/su151310464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Musa, A.A. et al. (2023)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"Sustainable Traffic Management for Smart Cities Using Internet-of-Things-Oriented Intelligent Transportation Systems (ITS): Challenges and Recommendations,"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15(13).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https://doi.org/10.3390/su15139859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Mutambik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(2025)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"IoT-Enabled Adaptive Traffic Management: A Multiagent Framework for Urban Mobility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25(13).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https://doi.org/10.3390/s25134126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SCATS dataset (2024).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 at: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https://data.smartdublin.ie/dataset/dcc-scats-detector-volume-jan-jun-2024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(Accessed: April 2, 2026)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Theodorakopoulos, L., Karras, A. and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Krimpas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G.A. (2025)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"Optimizing Apache Spark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MLlib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Predictive Performance of Large-Scale Models for Big Data Analytics,"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18(2).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https://doi.org/10.3390/a18020074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044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0D5E-5705-5811-0D3D-DA5E1166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1721" y="2302188"/>
            <a:ext cx="3697375" cy="1325563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!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98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7488</TotalTime>
  <Words>1571</Words>
  <Application>Microsoft Office PowerPoint</Application>
  <PresentationFormat>Widescreen</PresentationFormat>
  <Paragraphs>149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Predicting Urban Traffic Congestion Patterns Using Distributed Analytics of Smart City Sensor Data</vt:lpstr>
      <vt:lpstr> Introduction &amp; Background</vt:lpstr>
      <vt:lpstr>Literature Review</vt:lpstr>
      <vt:lpstr>Literature Review</vt:lpstr>
      <vt:lpstr>Problem Statement</vt:lpstr>
      <vt:lpstr>Research Aim and Objectives</vt:lpstr>
      <vt:lpstr>Methodology &amp; System Architecture</vt:lpstr>
      <vt:lpstr>Exploratory Data Analysis</vt:lpstr>
      <vt:lpstr>Random Forest Implementation &amp; Results</vt:lpstr>
      <vt:lpstr>GRU Model Implementation &amp; Results</vt:lpstr>
      <vt:lpstr>Real-Time Streaming Pipeline</vt:lpstr>
      <vt:lpstr>Testing, Evaluation &amp; Dashboard</vt:lpstr>
      <vt:lpstr>Conclusions &amp; Future Work</vt:lpstr>
      <vt:lpstr>References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Urban Traffic Congestion Patterns Using Distributed Analytics of Smart City Sensor Data</dc:title>
  <dc:creator>Admin</dc:creator>
  <cp:lastModifiedBy>Alvin Saju</cp:lastModifiedBy>
  <cp:revision>7</cp:revision>
  <dcterms:created xsi:type="dcterms:W3CDTF">2026-05-09T19:00:44Z</dcterms:created>
  <dcterms:modified xsi:type="dcterms:W3CDTF">2026-05-23T11:49:49Z</dcterms:modified>
</cp:coreProperties>
</file>